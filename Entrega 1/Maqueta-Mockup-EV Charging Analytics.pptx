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  <a:srgbClr val="123D37"/>
    <a:srgbClr val="0DA191"/>
    <a:srgbClr val="44C8B5"/>
    <a:srgbClr val="A1E3DA"/>
    <a:srgbClr val="123DC4"/>
    <a:srgbClr val="F2F2F2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15C17-602E-4228-B693-9D2155478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D98E56-DB35-45A3-8679-DDCDAD741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F1D5C-370F-4A5E-900C-77230B0E7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D660D-A980-451A-AA22-5B78F29A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EA04D6-E4C5-45CC-84D2-DB2945D6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950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9EACD-3D17-4B24-A9B9-5F73A2A9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D61C80-431E-4A4D-AE0B-7FD5DC71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FCC30-ED98-4373-A848-B4D8CAA7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611820-07F2-493B-9FF3-537D232A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FBDF1C-C046-46CA-A293-EEFDCBC5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413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AAF14-74BA-4344-B09B-3D735790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24174-9E6C-4AB3-A929-E07722A41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2479F2-D3C8-4E01-B5DA-52A45088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7B346-76B2-4EDE-99F7-B0B080A7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EBF46-B46A-4BFE-8A7A-588A25CE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000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119D4-6EF7-4DE2-84EC-BF59A2A9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E4ED6F-7E46-4388-B2A1-EBAA5527B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4F32C0-0B98-4918-A71C-50F779DCD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65CBE2-8A5D-4916-8081-C87EB6209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7E5405-22D5-4025-AEAB-7B6E7B0D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2806CD-2152-4ECF-9889-8E1CD4CB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879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587F6-CF2D-4E6F-A54E-7D73F497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022EBD-2233-452A-9193-4EBA1D97F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EECAFA-0FB0-4C8D-9F76-598F25ABB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FEFC64-197F-45FA-80B1-066AB90BC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39DFBC-1F46-4691-9C48-F39102A47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FCC3DB-4473-4AE6-BE13-C11984EA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AB924A-45BD-404A-9E83-3D61E136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8DFDCAE-BBE0-459D-AF6C-18522F8A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746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2F25E-894C-474A-9E84-FE7012A6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F52031-567F-4C9C-AD32-64010304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5DD6E7-71A0-45DF-88C7-27AF8940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3BB739-0419-4552-82CA-D67211D7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7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4F7778E-42C9-479B-91BA-0EFCF797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DB9192-80DA-4B83-8249-C6FC74BF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DBCBC4-08E5-424D-BB9E-1B373AF4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700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9B470-E17B-4513-B54D-2DC9046D9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563037-1881-4C81-8482-9ABAFE10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54D0FB-DE0C-4724-88BE-451328FE1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508C03-1B23-4866-BBB7-813EF0C5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BC116D-2892-485D-91C8-F691B1B0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4B0F2C-2FD9-4B58-82EF-9AA5400B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464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18EE0-06A9-4653-A1E0-B2F9D674E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3F1D89-BA10-4D0B-A8D0-CD6B556A3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10D726-F9B8-4686-A5EC-933644320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612BCF-CC72-4587-B0D8-B3AF72D6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7262F3-63CD-4594-B189-D9E0C76D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253B1C-6808-4AC1-8AF0-D6B74179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08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0AA8C-C751-40D9-BD94-9048F9F7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233E42-9C2E-4DC7-8FCA-0496A22EA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41BED-09EE-45DC-B1CF-87EB5B16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8A488-4640-4B7D-94D6-92150FED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00B73C-481D-4CE4-80B6-64FEDB6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236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CC262E-28FC-4251-95B8-977CAD9A5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CD8764-F12D-40E2-8A35-9CC94D6D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047098-189F-4582-87BD-E3875513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E5CBE7-D902-4480-B471-BF4538C4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38A333-4674-4D42-A74A-E8FAA1DF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997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17D7EE-7B00-4A8C-8B95-336AD472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81DBD3-9E40-49B4-AC2E-D8D332A4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D26F2B-BEA9-4CCE-B28D-D72D8C0AE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52B18-3C7D-44CF-A3C7-D512499CB3D2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44371-819B-4E68-8B81-1DDA7A1D2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930E6D-0643-4C1A-938A-3C0FF6B76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690B-16BF-4FD9-8D0D-A9487DEBFB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706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ángulo 79">
            <a:extLst>
              <a:ext uri="{FF2B5EF4-FFF2-40B4-BE49-F238E27FC236}">
                <a16:creationId xmlns:a16="http://schemas.microsoft.com/office/drawing/2014/main" id="{8DB70CAD-B9DC-485D-966E-CF3CC6824B47}"/>
              </a:ext>
            </a:extLst>
          </p:cNvPr>
          <p:cNvSpPr/>
          <p:nvPr/>
        </p:nvSpPr>
        <p:spPr>
          <a:xfrm>
            <a:off x="8747047" y="1977280"/>
            <a:ext cx="2132621" cy="96804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DFE5792B-A831-4EE0-B8ED-B5B2266EC206}"/>
              </a:ext>
            </a:extLst>
          </p:cNvPr>
          <p:cNvSpPr/>
          <p:nvPr/>
        </p:nvSpPr>
        <p:spPr>
          <a:xfrm>
            <a:off x="5874278" y="1958818"/>
            <a:ext cx="2317223" cy="96804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20A34A6A-206C-429D-9799-18DF62D95611}"/>
              </a:ext>
            </a:extLst>
          </p:cNvPr>
          <p:cNvSpPr/>
          <p:nvPr/>
        </p:nvSpPr>
        <p:spPr>
          <a:xfrm>
            <a:off x="2513805" y="1958818"/>
            <a:ext cx="2480735" cy="96804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00E19C-20B4-4984-8023-2BAA23D42CC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23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Gráfico 5" descr="Trueno">
            <a:extLst>
              <a:ext uri="{FF2B5EF4-FFF2-40B4-BE49-F238E27FC236}">
                <a16:creationId xmlns:a16="http://schemas.microsoft.com/office/drawing/2014/main" id="{EB3DF1F6-A5B5-49C8-B1E8-BD9D2A0BE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40000" cy="540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94892E6-72E2-415D-864A-600F155BA004}"/>
              </a:ext>
            </a:extLst>
          </p:cNvPr>
          <p:cNvSpPr txBox="1"/>
          <p:nvPr/>
        </p:nvSpPr>
        <p:spPr>
          <a:xfrm>
            <a:off x="745067" y="39167"/>
            <a:ext cx="4478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 CHARGING ANALYTICS</a:t>
            </a:r>
            <a:endParaRPr lang="es-CO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D8B953-274C-4ABF-96DD-D6312AABAC45}"/>
              </a:ext>
            </a:extLst>
          </p:cNvPr>
          <p:cNvSpPr txBox="1"/>
          <p:nvPr/>
        </p:nvSpPr>
        <p:spPr>
          <a:xfrm>
            <a:off x="745067" y="331555"/>
            <a:ext cx="44788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Predicción de sesiones de recarga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128A6F2-56E0-4478-BC93-E86F5598FC53}"/>
              </a:ext>
            </a:extLst>
          </p:cNvPr>
          <p:cNvSpPr txBox="1"/>
          <p:nvPr/>
        </p:nvSpPr>
        <p:spPr>
          <a:xfrm>
            <a:off x="11054302" y="108999"/>
            <a:ext cx="1137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Boulder, Colorado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97DF6C4-45A9-4354-BB8D-2D051158E5B2}"/>
              </a:ext>
            </a:extLst>
          </p:cNvPr>
          <p:cNvSpPr/>
          <p:nvPr/>
        </p:nvSpPr>
        <p:spPr>
          <a:xfrm>
            <a:off x="0" y="579167"/>
            <a:ext cx="1609000" cy="6107633"/>
          </a:xfrm>
          <a:prstGeom prst="rect">
            <a:avLst/>
          </a:prstGeom>
          <a:solidFill>
            <a:srgbClr val="123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89769C7-0A97-43B0-BD3A-02B7894FE72B}"/>
              </a:ext>
            </a:extLst>
          </p:cNvPr>
          <p:cNvSpPr txBox="1"/>
          <p:nvPr/>
        </p:nvSpPr>
        <p:spPr>
          <a:xfrm>
            <a:off x="0" y="985223"/>
            <a:ext cx="1596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Panel principal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C7CC5DA-24F2-438A-8A6A-9177D71B9C8E}"/>
              </a:ext>
            </a:extLst>
          </p:cNvPr>
          <p:cNvSpPr txBox="1"/>
          <p:nvPr/>
        </p:nvSpPr>
        <p:spPr>
          <a:xfrm>
            <a:off x="12533" y="1677932"/>
            <a:ext cx="1583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Análisis histórico</a:t>
            </a:r>
            <a:endParaRPr lang="es-CO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EDD08C2-6D16-42E1-9319-9B271DDA537E}"/>
              </a:ext>
            </a:extLst>
          </p:cNvPr>
          <p:cNvSpPr txBox="1"/>
          <p:nvPr/>
        </p:nvSpPr>
        <p:spPr>
          <a:xfrm>
            <a:off x="25067" y="2424095"/>
            <a:ext cx="160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Predicción diaria</a:t>
            </a:r>
            <a:endParaRPr lang="es-CO" sz="1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D96C7C-93CC-4ACB-966A-7E13F75A1C85}"/>
              </a:ext>
            </a:extLst>
          </p:cNvPr>
          <p:cNvSpPr/>
          <p:nvPr/>
        </p:nvSpPr>
        <p:spPr>
          <a:xfrm>
            <a:off x="2242084" y="934354"/>
            <a:ext cx="9381067" cy="89746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3CA8720-035C-4F3E-B284-D62BD90C1ED2}"/>
              </a:ext>
            </a:extLst>
          </p:cNvPr>
          <p:cNvSpPr txBox="1"/>
          <p:nvPr/>
        </p:nvSpPr>
        <p:spPr>
          <a:xfrm>
            <a:off x="2074333" y="619578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srgbClr val="123D37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Panel de Predicción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B9BEE08-0755-49BA-8ACD-456E84376386}"/>
              </a:ext>
            </a:extLst>
          </p:cNvPr>
          <p:cNvSpPr txBox="1"/>
          <p:nvPr/>
        </p:nvSpPr>
        <p:spPr>
          <a:xfrm>
            <a:off x="2074333" y="1021919"/>
            <a:ext cx="1427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Estación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2A4B342-4087-4B41-A6F0-5BC012FB2CE7}"/>
              </a:ext>
            </a:extLst>
          </p:cNvPr>
          <p:cNvSpPr txBox="1"/>
          <p:nvPr/>
        </p:nvSpPr>
        <p:spPr>
          <a:xfrm>
            <a:off x="2391041" y="1333196"/>
            <a:ext cx="1423983" cy="217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Seleccionar una Estación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7D5CBC76-F5E5-4ED6-81EA-DCA754699B95}"/>
              </a:ext>
            </a:extLst>
          </p:cNvPr>
          <p:cNvSpPr/>
          <p:nvPr/>
        </p:nvSpPr>
        <p:spPr>
          <a:xfrm rot="10800000">
            <a:off x="3683000" y="1441951"/>
            <a:ext cx="67733" cy="51549"/>
          </a:xfrm>
          <a:prstGeom prst="triangle">
            <a:avLst/>
          </a:prstGeom>
          <a:solidFill>
            <a:srgbClr val="123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909F0B6-8D42-4A9B-9EB4-34DD8FCA5739}"/>
              </a:ext>
            </a:extLst>
          </p:cNvPr>
          <p:cNvSpPr txBox="1"/>
          <p:nvPr/>
        </p:nvSpPr>
        <p:spPr>
          <a:xfrm>
            <a:off x="6289939" y="1017477"/>
            <a:ext cx="1427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Fecha Objetivo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E8F3B90-D8EF-4A8E-9023-8C4D010D5909}"/>
              </a:ext>
            </a:extLst>
          </p:cNvPr>
          <p:cNvSpPr txBox="1"/>
          <p:nvPr/>
        </p:nvSpPr>
        <p:spPr>
          <a:xfrm>
            <a:off x="6293382" y="1317937"/>
            <a:ext cx="1423983" cy="217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Dia Siguiente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8FF9AAD2-907E-4A97-BD60-DCB3BA7472E3}"/>
              </a:ext>
            </a:extLst>
          </p:cNvPr>
          <p:cNvSpPr/>
          <p:nvPr/>
        </p:nvSpPr>
        <p:spPr>
          <a:xfrm rot="10800000">
            <a:off x="7136606" y="1412819"/>
            <a:ext cx="67733" cy="51549"/>
          </a:xfrm>
          <a:prstGeom prst="triangle">
            <a:avLst/>
          </a:prstGeom>
          <a:solidFill>
            <a:srgbClr val="123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ADAE940-0291-48E8-98D3-3D4EBCAF5DE6}"/>
              </a:ext>
            </a:extLst>
          </p:cNvPr>
          <p:cNvSpPr txBox="1"/>
          <p:nvPr/>
        </p:nvSpPr>
        <p:spPr>
          <a:xfrm>
            <a:off x="2775372" y="2036149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Promedio Histórico Diario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9287E85-B7F7-448E-BB71-776036ACEEBA}"/>
              </a:ext>
            </a:extLst>
          </p:cNvPr>
          <p:cNvCxnSpPr/>
          <p:nvPr/>
        </p:nvCxnSpPr>
        <p:spPr>
          <a:xfrm>
            <a:off x="3269853" y="2738541"/>
            <a:ext cx="961759" cy="0"/>
          </a:xfrm>
          <a:prstGeom prst="line">
            <a:avLst/>
          </a:prstGeom>
          <a:ln>
            <a:solidFill>
              <a:srgbClr val="123D3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751477B-666A-4A1F-95A1-3593A0A183F5}"/>
              </a:ext>
            </a:extLst>
          </p:cNvPr>
          <p:cNvSpPr txBox="1"/>
          <p:nvPr/>
        </p:nvSpPr>
        <p:spPr>
          <a:xfrm>
            <a:off x="5962278" y="2034829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Sesiones Pronosticadas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1D8FB52-0247-4BCA-BAA3-61045D7DCC5C}"/>
              </a:ext>
            </a:extLst>
          </p:cNvPr>
          <p:cNvCxnSpPr/>
          <p:nvPr/>
        </p:nvCxnSpPr>
        <p:spPr>
          <a:xfrm>
            <a:off x="6571059" y="2738541"/>
            <a:ext cx="961759" cy="0"/>
          </a:xfrm>
          <a:prstGeom prst="line">
            <a:avLst/>
          </a:prstGeom>
          <a:ln>
            <a:solidFill>
              <a:srgbClr val="123D3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EBF0842-5C46-4C88-BF70-B8962E5234DA}"/>
              </a:ext>
            </a:extLst>
          </p:cNvPr>
          <p:cNvSpPr/>
          <p:nvPr/>
        </p:nvSpPr>
        <p:spPr>
          <a:xfrm>
            <a:off x="9630319" y="1030404"/>
            <a:ext cx="1423983" cy="605583"/>
          </a:xfrm>
          <a:prstGeom prst="roundRect">
            <a:avLst/>
          </a:prstGeom>
          <a:solidFill>
            <a:srgbClr val="123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Consultar Predicción</a:t>
            </a:r>
            <a:endParaRPr lang="es-CO" sz="14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698A1C7-3CB4-4120-8A3A-28F1DCD8D845}"/>
              </a:ext>
            </a:extLst>
          </p:cNvPr>
          <p:cNvSpPr txBox="1"/>
          <p:nvPr/>
        </p:nvSpPr>
        <p:spPr>
          <a:xfrm>
            <a:off x="8822268" y="2030750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Variación Esperada</a:t>
            </a:r>
            <a:endParaRPr lang="es-MX" sz="14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D41906C-0EF1-44A5-88D0-E23DC6FA6B1C}"/>
              </a:ext>
            </a:extLst>
          </p:cNvPr>
          <p:cNvCxnSpPr/>
          <p:nvPr/>
        </p:nvCxnSpPr>
        <p:spPr>
          <a:xfrm>
            <a:off x="9370089" y="2738541"/>
            <a:ext cx="961759" cy="0"/>
          </a:xfrm>
          <a:prstGeom prst="line">
            <a:avLst/>
          </a:prstGeom>
          <a:ln>
            <a:solidFill>
              <a:srgbClr val="123D3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7" name="Grupo 56">
            <a:extLst>
              <a:ext uri="{FF2B5EF4-FFF2-40B4-BE49-F238E27FC236}">
                <a16:creationId xmlns:a16="http://schemas.microsoft.com/office/drawing/2014/main" id="{F5610A5B-20EF-45DF-9253-3D01164D1DD6}"/>
              </a:ext>
            </a:extLst>
          </p:cNvPr>
          <p:cNvGrpSpPr/>
          <p:nvPr/>
        </p:nvGrpSpPr>
        <p:grpSpPr>
          <a:xfrm>
            <a:off x="2242083" y="3137397"/>
            <a:ext cx="9381067" cy="3128552"/>
            <a:chOff x="2242083" y="3137397"/>
            <a:chExt cx="9381067" cy="3128552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E1FA281A-8D2D-4EE8-827F-4C6ECD825B02}"/>
                </a:ext>
              </a:extLst>
            </p:cNvPr>
            <p:cNvSpPr/>
            <p:nvPr/>
          </p:nvSpPr>
          <p:spPr>
            <a:xfrm>
              <a:off x="2242083" y="3429000"/>
              <a:ext cx="9381067" cy="2836949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2701D75-A53F-4024-8B31-6C9E98C3BD5D}"/>
                </a:ext>
              </a:extLst>
            </p:cNvPr>
            <p:cNvSpPr txBox="1"/>
            <p:nvPr/>
          </p:nvSpPr>
          <p:spPr>
            <a:xfrm>
              <a:off x="2242083" y="3137397"/>
              <a:ext cx="2480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rgbClr val="123D37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Sesiones históricas por día</a:t>
              </a:r>
            </a:p>
          </p:txBody>
        </p: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958A6E1F-9B7F-4D8C-887C-FFF1D5931F76}"/>
                </a:ext>
              </a:extLst>
            </p:cNvPr>
            <p:cNvCxnSpPr/>
            <p:nvPr/>
          </p:nvCxnSpPr>
          <p:spPr>
            <a:xfrm>
              <a:off x="2775372" y="3928533"/>
              <a:ext cx="8468361" cy="0"/>
            </a:xfrm>
            <a:prstGeom prst="line">
              <a:avLst/>
            </a:prstGeom>
            <a:ln>
              <a:solidFill>
                <a:srgbClr val="123D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D8B58E0F-33AB-4136-81E3-5A8916E7344D}"/>
                </a:ext>
              </a:extLst>
            </p:cNvPr>
            <p:cNvCxnSpPr/>
            <p:nvPr/>
          </p:nvCxnSpPr>
          <p:spPr>
            <a:xfrm>
              <a:off x="2769471" y="4233333"/>
              <a:ext cx="8468361" cy="0"/>
            </a:xfrm>
            <a:prstGeom prst="line">
              <a:avLst/>
            </a:prstGeom>
            <a:ln>
              <a:solidFill>
                <a:srgbClr val="123D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2B51CF9C-EAAD-4FF3-8A7F-7DE70EF6D891}"/>
                </a:ext>
              </a:extLst>
            </p:cNvPr>
            <p:cNvCxnSpPr/>
            <p:nvPr/>
          </p:nvCxnSpPr>
          <p:spPr>
            <a:xfrm>
              <a:off x="2788046" y="4563533"/>
              <a:ext cx="8468361" cy="0"/>
            </a:xfrm>
            <a:prstGeom prst="line">
              <a:avLst/>
            </a:prstGeom>
            <a:ln>
              <a:solidFill>
                <a:srgbClr val="123D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F668CA4F-2134-4988-96E3-8608D25A7995}"/>
                </a:ext>
              </a:extLst>
            </p:cNvPr>
            <p:cNvCxnSpPr/>
            <p:nvPr/>
          </p:nvCxnSpPr>
          <p:spPr>
            <a:xfrm>
              <a:off x="2775371" y="4885267"/>
              <a:ext cx="8468361" cy="0"/>
            </a:xfrm>
            <a:prstGeom prst="line">
              <a:avLst/>
            </a:prstGeom>
            <a:ln>
              <a:solidFill>
                <a:srgbClr val="123D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5D45F635-32EF-4044-8975-7D3A2441DACD}"/>
                </a:ext>
              </a:extLst>
            </p:cNvPr>
            <p:cNvCxnSpPr/>
            <p:nvPr/>
          </p:nvCxnSpPr>
          <p:spPr>
            <a:xfrm>
              <a:off x="2769470" y="5190067"/>
              <a:ext cx="8468361" cy="0"/>
            </a:xfrm>
            <a:prstGeom prst="line">
              <a:avLst/>
            </a:prstGeom>
            <a:ln>
              <a:solidFill>
                <a:srgbClr val="123D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1F5B45BF-E876-47D5-9F76-D845F0C50B99}"/>
                </a:ext>
              </a:extLst>
            </p:cNvPr>
            <p:cNvCxnSpPr/>
            <p:nvPr/>
          </p:nvCxnSpPr>
          <p:spPr>
            <a:xfrm>
              <a:off x="2788045" y="5520267"/>
              <a:ext cx="8468361" cy="0"/>
            </a:xfrm>
            <a:prstGeom prst="line">
              <a:avLst/>
            </a:prstGeom>
            <a:ln>
              <a:solidFill>
                <a:srgbClr val="123D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F1364DCE-1FA6-45B3-B626-E58E1ED8D0BD}"/>
              </a:ext>
            </a:extLst>
          </p:cNvPr>
          <p:cNvCxnSpPr/>
          <p:nvPr/>
        </p:nvCxnSpPr>
        <p:spPr>
          <a:xfrm rot="10800000" flipV="1">
            <a:off x="2921001" y="4563533"/>
            <a:ext cx="2455333" cy="956734"/>
          </a:xfrm>
          <a:prstGeom prst="bentConnector3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CE6F95AD-731B-4261-BEAC-4AE189AEC0FF}"/>
              </a:ext>
            </a:extLst>
          </p:cNvPr>
          <p:cNvCxnSpPr/>
          <p:nvPr/>
        </p:nvCxnSpPr>
        <p:spPr>
          <a:xfrm rot="10800000" flipV="1">
            <a:off x="5376334" y="3598334"/>
            <a:ext cx="2455333" cy="956734"/>
          </a:xfrm>
          <a:prstGeom prst="bentConnector3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C2443250-3862-4A3F-B7F2-1E4B81261B03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63673" y="4066331"/>
            <a:ext cx="1655657" cy="719665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7A2867DE-0253-403F-8CD3-23342FE6CC8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51334" y="4716692"/>
            <a:ext cx="2065866" cy="537299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Conector: angular 75">
            <a:extLst>
              <a:ext uri="{FF2B5EF4-FFF2-40B4-BE49-F238E27FC236}">
                <a16:creationId xmlns:a16="http://schemas.microsoft.com/office/drawing/2014/main" id="{E3902985-5545-4505-A1E3-B62AAD50BF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64818" y="4076700"/>
            <a:ext cx="691588" cy="643889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00C214F-8202-466F-AB34-0467717D49EC}"/>
              </a:ext>
            </a:extLst>
          </p:cNvPr>
          <p:cNvSpPr txBox="1"/>
          <p:nvPr/>
        </p:nvSpPr>
        <p:spPr>
          <a:xfrm>
            <a:off x="2037954" y="6330305"/>
            <a:ext cx="1893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srgbClr val="123D37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Resultado de la predicción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0947A3BD-CEAA-4AD2-A246-13E7B2DAD9FB}"/>
              </a:ext>
            </a:extLst>
          </p:cNvPr>
          <p:cNvSpPr txBox="1"/>
          <p:nvPr/>
        </p:nvSpPr>
        <p:spPr>
          <a:xfrm>
            <a:off x="3964912" y="6369551"/>
            <a:ext cx="7272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rgbClr val="0D948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 modelo estimará el número de sesiones de recarga para el día siguiente en la estación seleccionada y permitirá compararlo con su promedio histórico.</a:t>
            </a:r>
          </a:p>
          <a:p>
            <a:r>
              <a:rPr lang="es-CO" sz="800" i="1" dirty="0">
                <a:solidFill>
                  <a:srgbClr val="0D948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r>
              <a:rPr lang="es-CO" sz="800" i="1" dirty="0">
                <a:solidFill>
                  <a:srgbClr val="0D948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Estado del prototipo: modelo pendiente de implementación</a:t>
            </a:r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45AE34FB-DE0E-4F04-A02C-E9754E9780A8}"/>
              </a:ext>
            </a:extLst>
          </p:cNvPr>
          <p:cNvSpPr txBox="1"/>
          <p:nvPr/>
        </p:nvSpPr>
        <p:spPr>
          <a:xfrm>
            <a:off x="2237818" y="6022407"/>
            <a:ext cx="72729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Ejemplo ilustrativo de presentación; los valores no provienen del </a:t>
            </a:r>
            <a:r>
              <a:rPr lang="es-CO" sz="800" i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</a:t>
            </a:r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..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4C78445B-EFB6-458B-B3DA-7A5FD20EEF93}"/>
              </a:ext>
            </a:extLst>
          </p:cNvPr>
          <p:cNvSpPr txBox="1"/>
          <p:nvPr/>
        </p:nvSpPr>
        <p:spPr>
          <a:xfrm>
            <a:off x="2391041" y="3794334"/>
            <a:ext cx="292893" cy="21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12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E1A61C81-427B-485B-A887-32F8A902AFD0}"/>
              </a:ext>
            </a:extLst>
          </p:cNvPr>
          <p:cNvSpPr txBox="1"/>
          <p:nvPr/>
        </p:nvSpPr>
        <p:spPr>
          <a:xfrm>
            <a:off x="2391041" y="4104782"/>
            <a:ext cx="292893" cy="21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8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C052EAC-E0E1-4FEA-8461-A41DB9575D05}"/>
              </a:ext>
            </a:extLst>
          </p:cNvPr>
          <p:cNvSpPr txBox="1"/>
          <p:nvPr/>
        </p:nvSpPr>
        <p:spPr>
          <a:xfrm>
            <a:off x="2391040" y="4431725"/>
            <a:ext cx="292893" cy="21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6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49FB981-DC05-4AD8-92DC-2C7B4A9E0C95}"/>
              </a:ext>
            </a:extLst>
          </p:cNvPr>
          <p:cNvSpPr txBox="1"/>
          <p:nvPr/>
        </p:nvSpPr>
        <p:spPr>
          <a:xfrm>
            <a:off x="2383444" y="4734384"/>
            <a:ext cx="292893" cy="21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8559945A-0472-4681-98A8-80DA370183D5}"/>
              </a:ext>
            </a:extLst>
          </p:cNvPr>
          <p:cNvSpPr txBox="1"/>
          <p:nvPr/>
        </p:nvSpPr>
        <p:spPr>
          <a:xfrm>
            <a:off x="2391040" y="5082356"/>
            <a:ext cx="292893" cy="21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1D71C3DE-A129-4C7B-B05E-5267A01DB910}"/>
              </a:ext>
            </a:extLst>
          </p:cNvPr>
          <p:cNvSpPr txBox="1"/>
          <p:nvPr/>
        </p:nvSpPr>
        <p:spPr>
          <a:xfrm>
            <a:off x="2391040" y="5404644"/>
            <a:ext cx="292893" cy="21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7969FEDB-8D0A-478B-865D-CC7495DBA00C}"/>
              </a:ext>
            </a:extLst>
          </p:cNvPr>
          <p:cNvSpPr txBox="1"/>
          <p:nvPr/>
        </p:nvSpPr>
        <p:spPr>
          <a:xfrm>
            <a:off x="3450339" y="2738540"/>
            <a:ext cx="6813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Sesiones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F7A77FDB-B8BA-4C05-B0BB-1D3309F07092}"/>
              </a:ext>
            </a:extLst>
          </p:cNvPr>
          <p:cNvSpPr txBox="1"/>
          <p:nvPr/>
        </p:nvSpPr>
        <p:spPr>
          <a:xfrm>
            <a:off x="6691408" y="2729879"/>
            <a:ext cx="958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Día Siguiente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91C55C26-768A-4818-B6BE-33CDD1D53AAA}"/>
              </a:ext>
            </a:extLst>
          </p:cNvPr>
          <p:cNvSpPr txBox="1"/>
          <p:nvPr/>
        </p:nvSpPr>
        <p:spPr>
          <a:xfrm>
            <a:off x="10331848" y="2589595"/>
            <a:ext cx="285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%</a:t>
            </a:r>
            <a:endParaRPr lang="es-CO" sz="600" i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8436ACF-4E1C-48A4-A9CA-CB49A6E1DF05}"/>
              </a:ext>
            </a:extLst>
          </p:cNvPr>
          <p:cNvSpPr txBox="1"/>
          <p:nvPr/>
        </p:nvSpPr>
        <p:spPr>
          <a:xfrm>
            <a:off x="9121714" y="2729273"/>
            <a:ext cx="1495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frente al promedio histórico</a:t>
            </a:r>
          </a:p>
        </p:txBody>
      </p:sp>
    </p:spTree>
    <p:extLst>
      <p:ext uri="{BB962C8B-B14F-4D97-AF65-F5344CB8AC3E}">
        <p14:creationId xmlns:p14="http://schemas.microsoft.com/office/powerpoint/2010/main" val="15321487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Semibold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Aguirre Agredo</dc:creator>
  <cp:lastModifiedBy>Daniel Aguirre Agredo</cp:lastModifiedBy>
  <cp:revision>16</cp:revision>
  <dcterms:created xsi:type="dcterms:W3CDTF">2026-10-26T01:37:34Z</dcterms:created>
  <dcterms:modified xsi:type="dcterms:W3CDTF">2026-10-26T02:49:41Z</dcterms:modified>
</cp:coreProperties>
</file>